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91838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spc="140" kern="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RAIL DESIGN · PROJECT BRIEF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498080" y="-731520"/>
            <a:ext cx="5669280" cy="5669280"/>
          </a:xfrm>
          <a:prstGeom prst="arc">
            <a:avLst/>
          </a:prstGeom>
          <a:solidFill>
            <a:srgbClr val="472330">
              <a:alpha val="75000"/>
            </a:srgbClr>
          </a:solidFill>
          <a:ln w="25400">
            <a:solidFill>
              <a:srgbClr val="6B263B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80" kern="0" dirty="0">
                <a:solidFill>
                  <a:srgbClr val="F5A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RAIL DESIGN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轨道客室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智能设计平台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7DE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以项目为边界、以资产为协议、以会话串联 AI 能力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350215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C91838"/>
          </a:solidFill>
          <a:ln w="8890">
            <a:solidFill>
              <a:srgbClr val="C91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5112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项目介绍 · 20页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B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真实系统截图 + 自绘架构与业务图表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960120"/>
            <a:ext cx="5029200" cy="41605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pic>
        <p:nvPicPr>
          <p:cNvPr id="10" name="Image 0" descr="/data_ssd/projects/vue-vben-admin/docs/rail-platform/presentation/screen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996696"/>
            <a:ext cx="4956048" cy="40873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11696" y="1088136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11696" y="10972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本地真实系统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658368" y="6245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F8B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http://localhost:5666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652760" y="6245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F8B9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能力不应成为一组孤岛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平台把外部工作流纳入统一身份、项目、资产、任务和审计体系。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03911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5296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模型服务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接口与状态各异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286000" y="2240280"/>
            <a:ext cx="27432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514600" y="187452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42616" y="203911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99816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工作流服务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9816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接口与状态各异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4160520" y="2240280"/>
            <a:ext cx="27432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389120" y="187452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17136" y="203911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训练服务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4336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接口与状态各异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583680" y="1600200"/>
            <a:ext cx="4937760" cy="3337560"/>
          </a:xfrm>
          <a:prstGeom prst="roundRect">
            <a:avLst>
              <a:gd name="adj" fmla="val 6027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31152" y="18653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统一平台骨架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31152" y="2487168"/>
            <a:ext cx="1865376" cy="694944"/>
          </a:xfrm>
          <a:prstGeom prst="roundRect">
            <a:avLst>
              <a:gd name="adj" fmla="val 15789"/>
            </a:avLst>
          </a:prstGeom>
          <a:solidFill>
            <a:srgbClr val="36242C"/>
          </a:solidFill>
          <a:ln w="8890">
            <a:solidFill>
              <a:srgbClr val="4651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25968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身份与权限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68312" y="28620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AEB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API / RBAC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034272" y="2487168"/>
            <a:ext cx="1865376" cy="694944"/>
          </a:xfrm>
          <a:prstGeom prst="roundRect">
            <a:avLst>
              <a:gd name="adj" fmla="val 15789"/>
            </a:avLst>
          </a:prstGeom>
          <a:solidFill>
            <a:srgbClr val="26313B"/>
          </a:solidFill>
          <a:ln w="8890">
            <a:solidFill>
              <a:srgbClr val="4651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71432" y="25968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项目上下文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71432" y="28620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AEB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成员与数据边界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931152" y="3474720"/>
            <a:ext cx="1865376" cy="694944"/>
          </a:xfrm>
          <a:prstGeom prst="roundRect">
            <a:avLst>
              <a:gd name="adj" fmla="val 15789"/>
            </a:avLst>
          </a:prstGeom>
          <a:solidFill>
            <a:srgbClr val="26313B"/>
          </a:solidFill>
          <a:ln w="8890">
            <a:solidFill>
              <a:srgbClr val="4651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68312" y="358444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资产协议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68312" y="38496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AEB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跨能力复用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9034272" y="3474720"/>
            <a:ext cx="1865376" cy="694944"/>
          </a:xfrm>
          <a:prstGeom prst="roundRect">
            <a:avLst>
              <a:gd name="adj" fmla="val 15789"/>
            </a:avLst>
          </a:prstGeom>
          <a:solidFill>
            <a:srgbClr val="26313B"/>
          </a:solidFill>
          <a:ln w="8890">
            <a:solidFill>
              <a:srgbClr val="4651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1432" y="358444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任务台账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71432" y="38496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AEB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进度、失败、追溯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5989320" y="3218688"/>
            <a:ext cx="502920" cy="0"/>
          </a:xfrm>
          <a:prstGeom prst="line">
            <a:avLst/>
          </a:prstGeom>
          <a:noFill/>
          <a:ln w="254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85800" y="544982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外部能力可替换，平台数据不丢失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5800" y="58704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失败必须明确，未经登记的输出不能冒充项目资产。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LOOP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平台设计闭环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从需求资产进入，到 AI 执行、验证复盘，再沉淀为可复用成果。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120640" y="2743200"/>
            <a:ext cx="1920240" cy="1920240"/>
          </a:xfrm>
          <a:prstGeom prst="ellipse">
            <a:avLst/>
          </a:prstGeom>
          <a:solidFill>
            <a:srgbClr val="FFF8F9"/>
          </a:solidFill>
          <a:ln w="25400">
            <a:solidFill>
              <a:srgbClr val="F2BC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3474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持续设计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03520" y="38862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 · 生成 · 验证 · 入库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79008" y="1828800"/>
            <a:ext cx="603504" cy="6035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1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856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项目资产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112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119 项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7274799" y="2915556"/>
            <a:ext cx="603504" cy="6035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1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4799" y="29155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88031" y="29429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开始设计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88031" y="31990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个会话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703458" y="4673964"/>
            <a:ext cx="603504" cy="6035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1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3458" y="46739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16690" y="47013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应用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16690" y="49574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项能力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854558" y="4673964"/>
            <a:ext cx="603504" cy="6035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1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4558" y="46739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84710" y="47013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任务执行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84710" y="49574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项任务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283217" y="2915556"/>
            <a:ext cx="603504" cy="6035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1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3217" y="29155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13369" y="29429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设计成果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13369" y="31990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项登记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890795" y="2355195"/>
            <a:ext cx="221793" cy="161142"/>
          </a:xfrm>
          <a:prstGeom prst="line">
            <a:avLst/>
          </a:prstGeom>
          <a:noFill/>
          <a:ln w="25400">
            <a:solidFill>
              <a:srgbClr val="E55B75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13218" y="4057116"/>
            <a:ext cx="-84717" cy="260734"/>
          </a:xfrm>
          <a:prstGeom prst="line">
            <a:avLst/>
          </a:prstGeom>
          <a:noFill/>
          <a:ln w="25400">
            <a:solidFill>
              <a:srgbClr val="E55B75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17836" y="5270103"/>
            <a:ext cx="-274152" cy="0"/>
          </a:xfrm>
          <a:prstGeom prst="line">
            <a:avLst/>
          </a:prstGeom>
          <a:noFill/>
          <a:ln w="25400">
            <a:solidFill>
              <a:srgbClr val="E55B75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633019" y="4317849"/>
            <a:ext cx="-84717" cy="-260734"/>
          </a:xfrm>
          <a:prstGeom prst="line">
            <a:avLst/>
          </a:prstGeom>
          <a:noFill/>
          <a:ln w="25400">
            <a:solidFill>
              <a:srgbClr val="E55B75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48931" y="2516337"/>
            <a:ext cx="221793" cy="-161142"/>
          </a:xfrm>
          <a:prstGeom prst="line">
            <a:avLst/>
          </a:prstGeom>
          <a:noFill/>
          <a:ln w="25400">
            <a:solidFill>
              <a:srgbClr val="E55B75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8368" y="196596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2084832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当前项目资产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229514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22960" y="2679192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统一登记与追溯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9646920" y="196596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11512" y="2084832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可用应用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811512" y="229514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811512" y="2679192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ComfyUI 真实联调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658368" y="4498848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617720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运行任务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" y="4828032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22960" y="5212080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异常不伪造成功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9646920" y="4498848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11512" y="4617720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设计成果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811512" y="4828032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811512" y="5212080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登记后可流转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BOUNDARY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项目是最高级业务边界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同一项目中共享成员、资产、会话和任务；跨项目默认隔离。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10881360" cy="4498848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  CR-2026-0005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802368" y="18105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2368" y="18196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数据隔离边界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32688" y="2450592"/>
            <a:ext cx="4663440" cy="1033272"/>
          </a:xfrm>
          <a:prstGeom prst="roundRect">
            <a:avLst>
              <a:gd name="adj" fmla="val 13274"/>
            </a:avLst>
          </a:prstGeom>
          <a:solidFill>
            <a:srgbClr val="F8FAFC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2679192"/>
            <a:ext cx="530352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679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26609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2990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创建者 / 受邀成员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7608" y="2450592"/>
            <a:ext cx="4663440" cy="1033272"/>
          </a:xfrm>
          <a:prstGeom prst="roundRect">
            <a:avLst>
              <a:gd name="adj" fmla="val 13274"/>
            </a:avLst>
          </a:prstGeom>
          <a:solidFill>
            <a:srgbClr val="F8FAFC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2679192"/>
            <a:ext cx="530352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679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26609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设计会话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2990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多轮交互 / 多应用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32688" y="3822192"/>
            <a:ext cx="4663440" cy="1033272"/>
          </a:xfrm>
          <a:prstGeom prst="roundRect">
            <a:avLst>
              <a:gd name="adj" fmla="val 13274"/>
            </a:avLst>
          </a:prstGeom>
          <a:solidFill>
            <a:srgbClr val="FFF7F8"/>
          </a:solidFill>
          <a:ln w="8890">
            <a:solidFill>
              <a:srgbClr val="E99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050792"/>
            <a:ext cx="530352" cy="530352"/>
          </a:xfrm>
          <a:prstGeom prst="ellipse">
            <a:avLst/>
          </a:prstGeom>
          <a:solidFill>
            <a:srgbClr val="FDECEF"/>
          </a:solidFill>
          <a:ln w="15240">
            <a:solidFill>
              <a:srgbClr val="C91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40325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项目资产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4361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 / 结果 / 版本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07608" y="3822192"/>
            <a:ext cx="4663440" cy="1033272"/>
          </a:xfrm>
          <a:prstGeom prst="roundRect">
            <a:avLst>
              <a:gd name="adj" fmla="val 13274"/>
            </a:avLst>
          </a:prstGeom>
          <a:solidFill>
            <a:srgbClr val="F8FAFC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88" y="4050792"/>
            <a:ext cx="530352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40325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任务台账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4361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 / 失败 / 血缘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539496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资产是能力之间的交换协议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从一个设计问题开始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首页用可视化闭环解释平台核心，并提供继续设计、项目和资产入口。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21792" y="1481328"/>
            <a:ext cx="7406640" cy="4553712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pic>
        <p:nvPicPr>
          <p:cNvPr id="7" name="Image 0" descr="/data_ssd/projects/vue-vben-admin/docs/rail-platform/presentation/screenshots/03-home-view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17904"/>
            <a:ext cx="7333488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60934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61848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设计工作台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8302752" y="1481328"/>
            <a:ext cx="3246120" cy="4553712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13648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首页回答三个问题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13648" y="2432304"/>
            <a:ext cx="411480" cy="411480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13648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62288" y="24140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我能继续什么？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62288" y="27157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最近会话与任务动态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613648" y="3383280"/>
            <a:ext cx="411480" cy="411480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13648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62288" y="3364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平台如何运转？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62288" y="36667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闭环关系与实时统计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613648" y="4334256"/>
            <a:ext cx="411480" cy="411480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13648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62288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成果沉淀在哪里？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62288" y="4617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资产构成与最近输出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一个会话，串联多种 AI 能力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用户不再反复打开应用窗口；输入、流转和结果都留在同一条设计上下文中。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21792" y="1444752"/>
            <a:ext cx="7909560" cy="4681728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pic>
        <p:nvPicPr>
          <p:cNvPr id="7" name="Image 0" descr="/data_ssd/projects/vue-vben-admin/docs/rail-platform/presentation/screenshots/05-design-s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836408" cy="46085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57276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58191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真实多轮会话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8778240" y="1444752"/>
            <a:ext cx="2779776" cy="4681728"/>
          </a:xfrm>
          <a:prstGeom prst="roundRect">
            <a:avLst>
              <a:gd name="adj" fmla="val 5921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70848" y="1755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同一会话内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070848" y="226771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5414C"/>
          </a:solidFill>
          <a:ln w="8890">
            <a:solidFill>
              <a:srgbClr val="3541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70848" y="227685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文本生成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10387584" y="2395728"/>
            <a:ext cx="502920" cy="0"/>
          </a:xfrm>
          <a:prstGeom prst="line">
            <a:avLst/>
          </a:prstGeom>
          <a:noFill/>
          <a:ln w="12700">
            <a:solidFill>
              <a:srgbClr val="798592"/>
            </a:solidFill>
            <a:prstDash val="dash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070848" y="2834640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5414C"/>
          </a:solidFill>
          <a:ln w="8890">
            <a:solidFill>
              <a:srgbClr val="3541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70848" y="28437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文生图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387584" y="2962656"/>
            <a:ext cx="502920" cy="0"/>
          </a:xfrm>
          <a:prstGeom prst="line">
            <a:avLst/>
          </a:prstGeom>
          <a:noFill/>
          <a:ln w="12700">
            <a:solidFill>
              <a:srgbClr val="798592"/>
            </a:solidFill>
            <a:prstDash val="dash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070848" y="340156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C91838"/>
          </a:solidFill>
          <a:ln w="8890">
            <a:solidFill>
              <a:srgbClr val="C918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0848" y="34107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智能扩图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10387584" y="3529584"/>
            <a:ext cx="502920" cy="0"/>
          </a:xfrm>
          <a:prstGeom prst="line">
            <a:avLst/>
          </a:prstGeom>
          <a:noFill/>
          <a:ln w="12700">
            <a:solidFill>
              <a:srgbClr val="798592"/>
            </a:solidFill>
            <a:prstDash val="dash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70848" y="3968496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5414C"/>
          </a:solidFill>
          <a:ln w="8890">
            <a:solidFill>
              <a:srgbClr val="3541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70848" y="39776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局部重绘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10387584" y="4096512"/>
            <a:ext cx="502920" cy="0"/>
          </a:xfrm>
          <a:prstGeom prst="line">
            <a:avLst/>
          </a:prstGeom>
          <a:noFill/>
          <a:ln w="12700">
            <a:solidFill>
              <a:srgbClr val="798592"/>
            </a:solidFill>
            <a:prstDash val="dash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0848" y="4535424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5414C"/>
          </a:solidFill>
          <a:ln w="8890">
            <a:solidFill>
              <a:srgbClr val="3541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70848" y="45445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多图融合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9070848" y="53218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DC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一次只运行一个任务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5DC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不同会话可并行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UNIFIED INPUT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统一输入：像聊天一样调用专业工作流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默认文生文；选择应用后，只展开常用参数，“更多”承载完整配置。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10789920" cy="187452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 w="8890">
            <a:solidFill>
              <a:srgbClr val="E899A8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8470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描述你的设计需求…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596896"/>
            <a:ext cx="10012680" cy="0"/>
          </a:xfrm>
          <a:prstGeom prst="line">
            <a:avLst/>
          </a:prstGeom>
          <a:noFill/>
          <a:ln w="12700">
            <a:solidFill>
              <a:srgbClr val="E8C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761488"/>
            <a:ext cx="347472" cy="256032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8890">
            <a:solidFill>
              <a:srgbClr val="F5F7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77063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＋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408176" y="27614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8890">
            <a:solidFill>
              <a:srgbClr val="F5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" y="27706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093976" y="276148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 w="8890">
            <a:solidFill>
              <a:srgbClr val="FD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27706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文生图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935224" y="27614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8890">
            <a:solidFill>
              <a:srgbClr val="F5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27706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621024" y="27614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8890">
            <a:solidFill>
              <a:srgbClr val="F5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1024" y="27706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重绘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306824" y="27614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8890">
            <a:solidFill>
              <a:srgbClr val="F5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06824" y="27706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扩图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992624" y="27614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8890">
            <a:solidFill>
              <a:srgbClr val="F5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7706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多图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678424" y="2761488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8890">
            <a:solidFill>
              <a:srgbClr val="F5F7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78424" y="277063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更多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0808208" y="2587752"/>
            <a:ext cx="438912" cy="438912"/>
          </a:xfrm>
          <a:prstGeom prst="ellipse">
            <a:avLst/>
          </a:prstGeom>
          <a:solidFill>
            <a:srgbClr val="C91838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08208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↑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49808" y="4069080"/>
            <a:ext cx="33101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8795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快捷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3982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" y="4782312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主要能力与参数常驻输入框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425696" y="4069080"/>
            <a:ext cx="33101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418795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可控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90288" y="43982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90288" y="4782312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参数下拉直接修改，不打断会话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8101584" y="4069080"/>
            <a:ext cx="33101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66176" y="418795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可追溯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66176" y="43982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266176" y="4782312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图片、文本、资产输入随轮次保存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 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项工作流能力矩阵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 ComfyUI API JSON 保持不变，由平台适配层负责参数、素材和结果映射。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58368" y="1536192"/>
            <a:ext cx="3401568" cy="175564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1907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C91838"/>
          </a:solidFill>
          <a:ln w="8890">
            <a:solidFill>
              <a:srgbClr val="C91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282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文生图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304288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86968" y="2505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双图编辑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615184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86968" y="2816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多图融合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2926080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61688" y="1536192"/>
            <a:ext cx="3401568" cy="175564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44568" y="171907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7282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590288" y="2194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局部重绘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2304288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590288" y="2505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分区设计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2615184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90288" y="2816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智能扩图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9480" y="2926080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65008" y="1536192"/>
            <a:ext cx="3401568" cy="175564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47888" y="171907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17282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293608" y="2194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图片理解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0" y="2304288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93608" y="2505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材质识别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0" y="2615184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293608" y="2816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方案分析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972800" y="2926080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8368" y="3593592"/>
            <a:ext cx="3401568" cy="175564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" y="377647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37856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视角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86968" y="4251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镜头调整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4361688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86968" y="45628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多视图三维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66160" y="4672584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886968" y="4873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2D 生 3D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566160" y="4983480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361688" y="3593592"/>
            <a:ext cx="3401568" cy="175564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44568" y="377647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44568" y="37856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590288" y="4251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文本生成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69480" y="4361688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4590288" y="45628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自动报告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269480" y="4672584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590288" y="4873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结果归档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69480" y="4983480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065008" y="3593592"/>
            <a:ext cx="3401568" cy="175564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247888" y="377647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47888" y="37856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8293608" y="4251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LoRA 训练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972800" y="4361688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293608" y="45628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模型管理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972800" y="4672584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8293608" y="4873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能力扩展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972800" y="4983480"/>
            <a:ext cx="201168" cy="0"/>
          </a:xfrm>
          <a:prstGeom prst="line">
            <a:avLst/>
          </a:prstGeom>
          <a:noFill/>
          <a:ln w="127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3840480" y="58064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类能力 × 统一接入契约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SPECIAL NODES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特殊节点也要有专业交互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遮罩、实时捕捉、分区重绘和镜头控制不是普通表单，需要可视化工具承载。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21792" y="1444752"/>
            <a:ext cx="749808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pic>
        <p:nvPicPr>
          <p:cNvPr id="7" name="Image 0" descr="/data_ssd/projects/vue-vben-admin/docs/rail-platform/presentation/screenshots/08-mask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424928" cy="46360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572768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5819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遮罩编辑器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8366760" y="1536192"/>
            <a:ext cx="3182112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77072" y="17007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070848" y="16550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画笔与橡皮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070848" y="19659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撤销、反转、清除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366760" y="2633472"/>
            <a:ext cx="3182112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77072" y="27980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070848" y="2752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图层控制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70848" y="30632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遮罩 / 绘画 / 底图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366760" y="3730752"/>
            <a:ext cx="3182112" cy="859536"/>
          </a:xfrm>
          <a:prstGeom prst="roundRect">
            <a:avLst>
              <a:gd name="adj" fmla="val 14894"/>
            </a:avLst>
          </a:prstGeom>
          <a:solidFill>
            <a:srgbClr val="FFF5F7"/>
          </a:solidFill>
          <a:ln w="8890">
            <a:solidFill>
              <a:srgbClr val="E78F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77072" y="389534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070848" y="38496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编辑即资产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70848" y="4160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保存后进入项目资产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366760" y="4828032"/>
            <a:ext cx="3182112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77072" y="49926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70848" y="49469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全局复用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070848" y="52578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所有含遮罩工作流一致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CONTINUE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结果不是终点，而是下一轮输入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下载、保存资产、流转、遮罩编辑、对比和复用参数均围绕会话结果展开。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21792" y="1444752"/>
            <a:ext cx="6903720" cy="4553712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pic>
        <p:nvPicPr>
          <p:cNvPr id="7" name="Image 0" descr="/data_ssd/projects/vue-vben-admin/docs/rail-platform/presentation/screenshots/05-design-s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830568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57276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5819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生成结果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7882128" y="1572768"/>
            <a:ext cx="1572768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10144" y="1737360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014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67344" y="1700784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下载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67344" y="196596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保留原始文件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9665208" y="1572768"/>
            <a:ext cx="1572768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793224" y="1737360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9322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250424" y="1700784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250424" y="196596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登记项目资产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7882128" y="2834640"/>
            <a:ext cx="1572768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10144" y="299923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10144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67344" y="2962656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流转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467344" y="322783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本会话换能力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9665208" y="2834640"/>
            <a:ext cx="1572768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93224" y="299923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93224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50424" y="2962656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250424" y="322783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检查修改范围</a:t>
            </a:r>
            <a:endParaRPr lang="en-US" sz="740" dirty="0"/>
          </a:p>
        </p:txBody>
      </p:sp>
      <p:sp>
        <p:nvSpPr>
          <p:cNvPr id="30" name="Shape 27"/>
          <p:cNvSpPr/>
          <p:nvPr/>
        </p:nvSpPr>
        <p:spPr>
          <a:xfrm>
            <a:off x="7882128" y="4096512"/>
            <a:ext cx="1572768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010144" y="4261104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10144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467344" y="4224528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复用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67344" y="448970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沿用本轮参数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7882128" y="5440680"/>
            <a:ext cx="3429000" cy="530352"/>
          </a:xfrm>
          <a:prstGeom prst="roundRect">
            <a:avLst>
              <a:gd name="adj" fmla="val 2069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82128" y="54406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→ 验证 → 再设计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ASSET PROTOCOL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资产是能力之间的交换协议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输出只有登记为项目资产后，才能被同一项目内的其他能力安全复用。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74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13055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5296" y="2093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输入素材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 / 项目选择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971800" y="1965960"/>
            <a:ext cx="1874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9816" y="213055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7016" y="2093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57016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生成或编辑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303520" y="1965960"/>
            <a:ext cx="1874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213055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88736" y="2093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项目资产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88736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 / 来源 / 标签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7635240" y="1965960"/>
            <a:ext cx="1874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63256" y="213055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63256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0456" y="2093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 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0456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读取兼容输入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966960" y="1965960"/>
            <a:ext cx="1627632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94976" y="2130552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2E8B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4976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52176" y="2093976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成果入库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52176" y="235915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可下载 / 可追溯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2578608" y="2331720"/>
            <a:ext cx="347472" cy="0"/>
          </a:xfrm>
          <a:prstGeom prst="line">
            <a:avLst/>
          </a:prstGeom>
          <a:noFill/>
          <a:ln w="254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910328" y="2331720"/>
            <a:ext cx="347472" cy="0"/>
          </a:xfrm>
          <a:prstGeom prst="line">
            <a:avLst/>
          </a:prstGeom>
          <a:noFill/>
          <a:ln w="254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42048" y="2331720"/>
            <a:ext cx="347472" cy="0"/>
          </a:xfrm>
          <a:prstGeom prst="line">
            <a:avLst/>
          </a:prstGeom>
          <a:noFill/>
          <a:ln w="254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573768" y="2331720"/>
            <a:ext cx="347472" cy="0"/>
          </a:xfrm>
          <a:prstGeom prst="line">
            <a:avLst/>
          </a:prstGeom>
          <a:noFill/>
          <a:ln w="2540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5800" y="370332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382219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0392" y="403250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 / text / model3d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50392" y="4416552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统一契约字段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483864" y="370332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48456" y="382219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48456" y="403250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项目成员范围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648456" y="4416552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统一契约字段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6281928" y="370332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382219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血缘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46520" y="403250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任务与来源应用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446520" y="4416552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统一契约字段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9079992" y="370332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44584" y="382219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244584" y="403250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V1…Vn 可追踪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244584" y="4416552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统一契约字段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377440" y="532180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失败路径同样进入任务台账，不生成假资产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ASSET CENTER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多模态资产统一管理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支持文件夹、网格/列表、搜索、排序、成员筛选、批量操作和收藏软链接。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21792" y="1444752"/>
            <a:ext cx="7726680" cy="4645152"/>
          </a:xfrm>
          <a:prstGeom prst="roundRect">
            <a:avLst>
              <a:gd name="adj" fmla="val 2953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pic>
        <p:nvPicPr>
          <p:cNvPr id="7" name="Image 0" descr="/data_ssd/projects/vue-vben-admin/docs/rail-platform/presentation/screenshots/06-as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653528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57276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5819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资产中心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8595360" y="1444752"/>
            <a:ext cx="2944368" cy="4645152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6968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当前资产构成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6968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27080" y="239572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869680" y="2715768"/>
            <a:ext cx="2359152" cy="73152"/>
          </a:xfrm>
          <a:prstGeom prst="roundRect">
            <a:avLst>
              <a:gd name="adj" fmla="val 50000"/>
            </a:avLst>
          </a:prstGeom>
          <a:solidFill>
            <a:srgbClr val="E8ECF0"/>
          </a:solidFill>
          <a:ln w="8890">
            <a:solidFill>
              <a:srgbClr val="E8EC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869680" y="2715768"/>
            <a:ext cx="2359152" cy="73152"/>
          </a:xfrm>
          <a:prstGeom prst="roundRect">
            <a:avLst>
              <a:gd name="adj" fmla="val 50000"/>
            </a:avLst>
          </a:prstGeom>
          <a:solidFill>
            <a:srgbClr val="C91838"/>
          </a:solidFill>
          <a:ln w="8890">
            <a:solidFill>
              <a:srgbClr val="C91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927080" y="32004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69680" y="3520440"/>
            <a:ext cx="2359152" cy="73152"/>
          </a:xfrm>
          <a:prstGeom prst="roundRect">
            <a:avLst>
              <a:gd name="adj" fmla="val 50000"/>
            </a:avLst>
          </a:prstGeom>
          <a:solidFill>
            <a:srgbClr val="E8ECF0"/>
          </a:solidFill>
          <a:ln w="8890">
            <a:solidFill>
              <a:srgbClr val="E8EC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69680" y="3520440"/>
            <a:ext cx="566196" cy="73152"/>
          </a:xfrm>
          <a:prstGeom prst="roundRect">
            <a:avLst>
              <a:gd name="adj" fmla="val 50000"/>
            </a:avLst>
          </a:prstGeom>
          <a:solidFill>
            <a:srgbClr val="D97745"/>
          </a:solidFill>
          <a:ln w="8890">
            <a:solidFill>
              <a:srgbClr val="D977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4005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3D 模型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27080" y="40050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869680" y="4325112"/>
            <a:ext cx="2359152" cy="73152"/>
          </a:xfrm>
          <a:prstGeom prst="roundRect">
            <a:avLst>
              <a:gd name="adj" fmla="val 50000"/>
            </a:avLst>
          </a:prstGeom>
          <a:solidFill>
            <a:srgbClr val="E8ECF0"/>
          </a:solidFill>
          <a:ln w="8890">
            <a:solidFill>
              <a:srgbClr val="E8EC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69680" y="4325112"/>
            <a:ext cx="141549" cy="73152"/>
          </a:xfrm>
          <a:prstGeom prst="roundRect">
            <a:avLst>
              <a:gd name="adj" fmla="val 50000"/>
            </a:avLst>
          </a:prstGeom>
          <a:solidFill>
            <a:srgbClr val="667085"/>
          </a:solidFill>
          <a:ln w="8890">
            <a:solidFill>
              <a:srgbClr val="66708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69680" y="49103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收藏 ≠ 移动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869680" y="5257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收藏文件夹保存软链接，原资产位置保持不变。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JOB LEDGER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任务中心：真实执行状态与失败可解释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按状态、成员、名称和时间筛选；任务记录进度、错误、输出和创建信息。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21792" y="1481328"/>
            <a:ext cx="7818120" cy="4590288"/>
          </a:xfrm>
          <a:prstGeom prst="roundRect">
            <a:avLst>
              <a:gd name="adj" fmla="val 2988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pic>
        <p:nvPicPr>
          <p:cNvPr id="7" name="Image 0" descr="/data_ssd/projects/vue-vben-admin/docs/rail-platform/presentation/screenshots/07-j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17904"/>
            <a:ext cx="7744968" cy="45171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609344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618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任务中心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8732520" y="1481328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7112" y="1600200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累计任务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897112" y="181051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897112" y="2194560"/>
            <a:ext cx="2459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跨项目真实台账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8732520" y="2633472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7112" y="275234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897112" y="2962656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897112" y="3346704"/>
            <a:ext cx="2459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输出可登记资产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8732520" y="3785616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97112" y="3904488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897112" y="4114800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897112" y="4498848"/>
            <a:ext cx="2459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明确错误，不伪成功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8732520" y="4937760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97112" y="5056632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运行中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897112" y="5266944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897112" y="5650992"/>
            <a:ext cx="2459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按实时状态统计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让结果可验证，而不只是“看起来完成”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图片对比、遮罩前后检查与 3D 预览帮助用户确认变化和可用性。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532120" cy="443484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滑动对比</a:t>
            </a:r>
            <a:endParaRPr lang="en-US" sz="1800" dirty="0"/>
          </a:p>
        </p:txBody>
      </p:sp>
      <p:pic>
        <p:nvPicPr>
          <p:cNvPr id="8" name="Image 0" descr="/data_ssd/projects/vue-vben-admin/docs/rail-platform/presentation/screenshots/05-design-s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49424"/>
            <a:ext cx="4937760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2688" y="2249424"/>
            <a:ext cx="2468880" cy="26974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1568" y="2249424"/>
            <a:ext cx="0" cy="26974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36976" y="3438144"/>
            <a:ext cx="329184" cy="329184"/>
          </a:xfrm>
          <a:prstGeom prst="ellipse">
            <a:avLst/>
          </a:prstGeom>
          <a:solidFill>
            <a:srgbClr val="1D25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36976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↔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97280" y="24414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原始输入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4773168" y="24414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91838"/>
          </a:solidFill>
          <a:ln w="8890">
            <a:solidFill>
              <a:srgbClr val="C91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生成结果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446520" y="1508760"/>
            <a:ext cx="5102352" cy="4434840"/>
          </a:xfrm>
          <a:prstGeom prst="roundRect">
            <a:avLst>
              <a:gd name="adj" fmla="val 4124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3D 结果预览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903720" y="4983480"/>
            <a:ext cx="4251960" cy="0"/>
          </a:xfrm>
          <a:prstGeom prst="line">
            <a:avLst/>
          </a:prstGeom>
          <a:noFill/>
          <a:ln w="12700">
            <a:solidFill>
              <a:srgbClr val="66717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40880" y="2432304"/>
            <a:ext cx="-822960" cy="2551176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0" y="2432304"/>
            <a:ext cx="-822960" cy="2551176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2432304"/>
            <a:ext cx="-822960" cy="2551176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35440" y="2432304"/>
            <a:ext cx="-822960" cy="2551176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966960" y="2432304"/>
            <a:ext cx="-822960" cy="2551176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698480" y="2432304"/>
            <a:ext cx="-822960" cy="2551176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03720" y="2743200"/>
            <a:ext cx="4251960" cy="0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03720" y="3218688"/>
            <a:ext cx="4251960" cy="0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03720" y="3694176"/>
            <a:ext cx="4251960" cy="0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03720" y="4169664"/>
            <a:ext cx="4251960" cy="0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03720" y="4645152"/>
            <a:ext cx="4251960" cy="0"/>
          </a:xfrm>
          <a:prstGeom prst="line">
            <a:avLst/>
          </a:prstGeom>
          <a:noFill/>
          <a:ln w="7620">
            <a:solidFill>
              <a:srgbClr val="4651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480000">
            <a:off x="8092440" y="2523744"/>
            <a:ext cx="1645920" cy="1600200"/>
          </a:xfrm>
          <a:prstGeom prst="cube">
            <a:avLst/>
          </a:prstGeom>
          <a:solidFill>
            <a:srgbClr val="D8DEE5">
              <a:alpha val="95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12280" y="5230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旋转 · 缩放 · 场景 / 模型 / 相机 / 灯光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典型客室设计任务：从参考图到可交付成果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同一会话内组合图片理解、局部编辑、扩图和多视图三维，减少重复上传与上下文切换。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1097280" y="1847088"/>
            <a:ext cx="804672" cy="8046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E0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4708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需求与参考图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2249424"/>
            <a:ext cx="1024128" cy="0"/>
          </a:xfrm>
          <a:prstGeom prst="line">
            <a:avLst/>
          </a:prstGeom>
          <a:noFill/>
          <a:ln w="22860">
            <a:solidFill>
              <a:srgbClr val="C91838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1847088"/>
            <a:ext cx="804672" cy="8046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84708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44368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图片理解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0248" y="2249424"/>
            <a:ext cx="1024128" cy="0"/>
          </a:xfrm>
          <a:prstGeom prst="line">
            <a:avLst/>
          </a:prstGeom>
          <a:noFill/>
          <a:ln w="22860">
            <a:solidFill>
              <a:srgbClr val="C91838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05856" y="1847088"/>
            <a:ext cx="804672" cy="804672"/>
          </a:xfrm>
          <a:prstGeom prst="ellipse">
            <a:avLst/>
          </a:prstGeom>
          <a:solidFill>
            <a:srgbClr val="C91838"/>
          </a:solidFill>
          <a:ln w="19050">
            <a:solidFill>
              <a:srgbClr val="C91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184708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48656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分区 / 遮罩编辑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74536" y="2249424"/>
            <a:ext cx="1024128" cy="0"/>
          </a:xfrm>
          <a:prstGeom prst="line">
            <a:avLst/>
          </a:prstGeom>
          <a:noFill/>
          <a:ln w="22860">
            <a:solidFill>
              <a:srgbClr val="C91838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10144" y="1847088"/>
            <a:ext cx="804672" cy="8046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E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0144" y="184708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52944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方案生成与对比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78824" y="2249424"/>
            <a:ext cx="1024128" cy="0"/>
          </a:xfrm>
          <a:prstGeom prst="line">
            <a:avLst/>
          </a:prstGeom>
          <a:noFill/>
          <a:ln w="22860">
            <a:solidFill>
              <a:srgbClr val="C91838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314432" y="1847088"/>
            <a:ext cx="804672" cy="8046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14432" y="184708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57232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三维与成果入库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" y="3803904"/>
            <a:ext cx="10561320" cy="1600200"/>
          </a:xfrm>
          <a:prstGeom prst="roundRect">
            <a:avLst>
              <a:gd name="adj" fmla="val 10286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少切换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15568" y="4553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C8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一个会话使用多个应用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78808" y="4069080"/>
            <a:ext cx="0" cy="841248"/>
          </a:xfrm>
          <a:prstGeom prst="line">
            <a:avLst/>
          </a:prstGeom>
          <a:noFill/>
          <a:ln w="12700">
            <a:solidFill>
              <a:srgbClr val="5661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少上传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72000" y="4553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C8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资产直接流转为下一步输入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4069080"/>
            <a:ext cx="0" cy="841248"/>
          </a:xfrm>
          <a:prstGeom prst="line">
            <a:avLst/>
          </a:prstGeom>
          <a:noFill/>
          <a:ln w="12700">
            <a:solidFill>
              <a:srgbClr val="5661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可复盘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028432" y="4553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C8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每轮输入、参数、结果完整保留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COLLABORATION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团队协作与数据边界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创建者和管理员可邀请或移除成员；资产、任务、日志都绑定用户与项目。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1143000" y="1920240"/>
            <a:ext cx="932688" cy="932688"/>
          </a:xfrm>
          <a:prstGeom prst="ellipse">
            <a:avLst/>
          </a:prstGeom>
          <a:solidFill>
            <a:srgbClr val="FDECEF"/>
          </a:solidFill>
          <a:ln w="25400">
            <a:solidFill>
              <a:srgbClr val="C91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202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920240"/>
            <a:ext cx="932688" cy="9326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67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9202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932688" cy="932688"/>
          </a:xfrm>
          <a:prstGeom prst="ellipse">
            <a:avLst/>
          </a:prstGeom>
          <a:solidFill>
            <a:srgbClr val="1D252E"/>
          </a:solidFill>
          <a:ln w="19050">
            <a:solidFill>
              <a:srgbClr val="1D25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9202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84832" y="2386584"/>
            <a:ext cx="658368" cy="0"/>
          </a:xfrm>
          <a:prstGeom prst="line">
            <a:avLst/>
          </a:prstGeom>
          <a:noFill/>
          <a:ln w="22860">
            <a:solidFill>
              <a:srgbClr val="C9183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85032" y="2386584"/>
            <a:ext cx="658368" cy="0"/>
          </a:xfrm>
          <a:prstGeom prst="line">
            <a:avLst/>
          </a:prstGeom>
          <a:noFill/>
          <a:ln w="22860">
            <a:solidFill>
              <a:srgbClr val="C9183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897880" y="1554480"/>
            <a:ext cx="566928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项目范围校验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408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949440" y="23317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按创建成员筛选 / 批量操作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81635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8254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949440" y="28163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按执行成员筛选 / 删除权限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30098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3101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949440" y="33009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普通用户只见自己，管理员见元数据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78561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C91838"/>
          </a:solidFill>
          <a:ln w="8890">
            <a:solidFill>
              <a:srgbClr val="C91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7947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949440" y="37856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正文与附件按用户强制隔离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523036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前端隐藏按钮不能代替后端权限校验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稳定平台框架 + 可替换外部能力适配器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浏览器只访问平台 API；密钥、服务地址和厂商协议留在后端。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10652760" cy="804672"/>
          </a:xfrm>
          <a:prstGeom prst="roundRect">
            <a:avLst>
              <a:gd name="adj" fmla="val 18182"/>
            </a:avLst>
          </a:prstGeom>
          <a:solidFill>
            <a:srgbClr val="FDECE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691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64208" y="16367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体验层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16367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3 · 会话 · 资产 · 任务 · 权限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9048" y="2331720"/>
            <a:ext cx="0" cy="210312"/>
          </a:xfrm>
          <a:prstGeom prst="line">
            <a:avLst/>
          </a:prstGeom>
          <a:noFill/>
          <a:ln w="1905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7240" y="2551176"/>
            <a:ext cx="10652760" cy="80467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27340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64208" y="2679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 API 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2679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Nitro/H3 · RBAC · 审计 · 预签名 URL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9048" y="3374136"/>
            <a:ext cx="0" cy="210312"/>
          </a:xfrm>
          <a:prstGeom prst="line">
            <a:avLst/>
          </a:prstGeom>
          <a:noFill/>
          <a:ln w="1905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" y="3593592"/>
            <a:ext cx="10652760" cy="804672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3776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64208" y="3721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数据与对象层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94760" y="3721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PostgreSQL · MinIO/S3 · 邮件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9048" y="4416552"/>
            <a:ext cx="0" cy="210312"/>
          </a:xfrm>
          <a:prstGeom prst="line">
            <a:avLst/>
          </a:prstGeom>
          <a:noFill/>
          <a:ln w="1905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" y="4636008"/>
            <a:ext cx="10652760" cy="804672"/>
          </a:xfrm>
          <a:prstGeom prst="roundRect">
            <a:avLst>
              <a:gd name="adj" fmla="val 18182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48188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A1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64208" y="4764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能力适配层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94760" y="47640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7D0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ComfyUI · LLM · LoRA · 2D→3D · 报告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" y="5696712"/>
            <a:ext cx="33101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815584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真实失败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9264" y="602589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9264" y="6409944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未配置返回 ADAPTER_NOT_CONFIGURED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4462272" y="5696712"/>
            <a:ext cx="33101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5815584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可替换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26864" y="602589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626864" y="6409944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外部服务变化不侵入平台数据模型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119872" y="5696712"/>
            <a:ext cx="33101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5815584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不泄密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84464" y="602589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84464" y="6409944"/>
            <a:ext cx="2980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预签名上传，浏览器不接触密钥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成套 ID 与血缘，让每次设计可追溯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用户、项目、资产、任务和会话形成稳定命名与关联链。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2029968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205740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USR-000001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24323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2368296"/>
            <a:ext cx="246888" cy="0"/>
          </a:xfrm>
          <a:prstGeom prst="line">
            <a:avLst/>
          </a:prstGeom>
          <a:noFill/>
          <a:ln w="1778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71216" y="1874520"/>
            <a:ext cx="2029968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80944" y="205740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CR-2026-0005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80944" y="24323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10328" y="2368296"/>
            <a:ext cx="246888" cy="0"/>
          </a:xfrm>
          <a:prstGeom prst="line">
            <a:avLst/>
          </a:prstGeom>
          <a:noFill/>
          <a:ln w="1778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75504" y="1874520"/>
            <a:ext cx="2029968" cy="1005840"/>
          </a:xfrm>
          <a:prstGeom prst="roundRect">
            <a:avLst>
              <a:gd name="adj" fmla="val 13636"/>
            </a:avLst>
          </a:prstGeom>
          <a:solidFill>
            <a:srgbClr val="FFF4F6"/>
          </a:solidFill>
          <a:ln w="8890">
            <a:solidFill>
              <a:srgbClr val="E58DA0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85232" y="205740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AST-00000251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24323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14616" y="2368296"/>
            <a:ext cx="246888" cy="0"/>
          </a:xfrm>
          <a:prstGeom prst="line">
            <a:avLst/>
          </a:prstGeom>
          <a:noFill/>
          <a:ln w="1778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79792" y="1874520"/>
            <a:ext cx="2029968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205740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TSK-00000130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24323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518904" y="2368296"/>
            <a:ext cx="246888" cy="0"/>
          </a:xfrm>
          <a:prstGeom prst="line">
            <a:avLst/>
          </a:prstGeom>
          <a:noFill/>
          <a:ln w="17780">
            <a:solidFill>
              <a:srgbClr val="C9183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1874520"/>
            <a:ext cx="2029968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93808" y="205740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 / ROUND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93808" y="24323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会话与轮次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" y="3657600"/>
            <a:ext cx="10789920" cy="1508760"/>
          </a:xfrm>
          <a:prstGeom prst="roundRect">
            <a:avLst>
              <a:gd name="adj" fmla="val 10909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2688" y="3931920"/>
            <a:ext cx="347472" cy="347472"/>
          </a:xfrm>
          <a:prstGeom prst="ellipse">
            <a:avLst/>
          </a:prstGeom>
          <a:solidFill>
            <a:srgbClr val="6D283C"/>
          </a:solidFill>
          <a:ln w="12700">
            <a:solidFill>
              <a:srgbClr val="ECA0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89888" y="38770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B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谁执行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3580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035808" y="3931920"/>
            <a:ext cx="347472" cy="347472"/>
          </a:xfrm>
          <a:prstGeom prst="ellipse">
            <a:avLst/>
          </a:prstGeom>
          <a:solidFill>
            <a:srgbClr val="6D283C"/>
          </a:solidFill>
          <a:ln w="12700">
            <a:solidFill>
              <a:srgbClr val="ECA0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8770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B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在哪个项目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3892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38928" y="3931920"/>
            <a:ext cx="347472" cy="347472"/>
          </a:xfrm>
          <a:prstGeom prst="ellipse">
            <a:avLst/>
          </a:prstGeom>
          <a:solidFill>
            <a:srgbClr val="6D283C"/>
          </a:solidFill>
          <a:ln w="12700">
            <a:solidFill>
              <a:srgbClr val="ECA0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38770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B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用了什么输入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4204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42048" y="3931920"/>
            <a:ext cx="347472" cy="347472"/>
          </a:xfrm>
          <a:prstGeom prst="ellipse">
            <a:avLst/>
          </a:prstGeom>
          <a:solidFill>
            <a:srgbClr val="6D283C"/>
          </a:solidFill>
          <a:ln w="12700">
            <a:solidFill>
              <a:srgbClr val="ECA0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38770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B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调用哪个应用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4516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345168" y="3931920"/>
            <a:ext cx="347472" cy="347472"/>
          </a:xfrm>
          <a:prstGeom prst="ellipse">
            <a:avLst/>
          </a:prstGeom>
          <a:solidFill>
            <a:srgbClr val="6D283C"/>
          </a:solidFill>
          <a:ln w="12700">
            <a:solidFill>
              <a:srgbClr val="ECA0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02368" y="38770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B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产出什么资产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" y="5532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审计记录元数据，不采集密码、令牌、完整正文或文件内容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55778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 本地开发环境：一条命令拉起完整平台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332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 与 API 在本机 Node.js 运行；PostgreSQL、MinIO、Mailpit 由 Docker Compose 提供。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32120" y="65471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98A2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项目文档与本地系统截图 · 2026-08-14</a:t>
            </a:r>
            <a:endParaRPr lang="en-US" sz="58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3840480" cy="4434840"/>
          </a:xfrm>
          <a:prstGeom prst="roundRect">
            <a:avLst>
              <a:gd name="adj" fmla="val 4286"/>
            </a:avLst>
          </a:prstGeom>
          <a:solidFill>
            <a:srgbClr val="1D252E"/>
          </a:solidFill>
          <a:ln w="8890">
            <a:solidFill>
              <a:srgbClr val="1D252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385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./rail-platform.sh start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87552" y="2615184"/>
            <a:ext cx="3182112" cy="0"/>
          </a:xfrm>
          <a:prstGeom prst="line">
            <a:avLst/>
          </a:prstGeom>
          <a:noFill/>
          <a:ln w="12700">
            <a:solidFill>
              <a:srgbClr val="4B59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260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check_env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93392" y="29260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1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 Node / pnpm / Docker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35295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352958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1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 Web / API / 容器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restart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93392" y="41330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1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重启开发服务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7552" y="47365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93392" y="47365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1D8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停止服务，保留数据卷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1664208"/>
            <a:ext cx="28346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0056" y="1828800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77256" y="1792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77256" y="20574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localhost:5666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138160" y="1664208"/>
            <a:ext cx="28346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66176" y="1828800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23376" y="1792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23376" y="20574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localhost:5320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4892040" y="3081528"/>
            <a:ext cx="28346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0056" y="3246120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0056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77256" y="32095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MinIO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77256" y="3474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localhost:9000 / 9001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8138160" y="3081528"/>
            <a:ext cx="283464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D9E0E7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66176" y="3246120"/>
            <a:ext cx="384048" cy="384048"/>
          </a:xfrm>
          <a:prstGeom prst="ellipse">
            <a:avLst/>
          </a:prstGeom>
          <a:solidFill>
            <a:srgbClr val="FDECE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66176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23376" y="32095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Mailpit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23376" y="3474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localhost:8025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400800" y="4160520"/>
            <a:ext cx="0" cy="640080"/>
          </a:xfrm>
          <a:prstGeom prst="line">
            <a:avLst/>
          </a:prstGeom>
          <a:noFill/>
          <a:ln w="25400">
            <a:solidFill>
              <a:srgbClr val="C91838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257800" y="495604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C91838"/>
          </a:solidFill>
          <a:ln w="8890">
            <a:solidFill>
              <a:srgbClr val="C918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4965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PostgreSQL + MinIO 持久化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919472" y="5559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开发基础设施、迁移、种子与前后端并行启动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2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852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F5A3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RAIL DESIGN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AI 能力变成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可协作、可追溯的设计闭环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852928"/>
            <a:ext cx="2944368" cy="822960"/>
          </a:xfrm>
          <a:prstGeom prst="roundRect">
            <a:avLst>
              <a:gd name="adj" fmla="val 15556"/>
            </a:avLst>
          </a:prstGeom>
          <a:solidFill>
            <a:srgbClr val="46242F"/>
          </a:solidFill>
          <a:ln w="8890">
            <a:solidFill>
              <a:srgbClr val="8C3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9809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统一入口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28216" y="2980944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6CE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聊天式开始设计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931920" y="2852928"/>
            <a:ext cx="2944368" cy="822960"/>
          </a:xfrm>
          <a:prstGeom prst="roundRect">
            <a:avLst>
              <a:gd name="adj" fmla="val 15556"/>
            </a:avLst>
          </a:prstGeom>
          <a:solidFill>
            <a:srgbClr val="27323C"/>
          </a:solidFill>
          <a:ln w="8890">
            <a:solidFill>
              <a:srgbClr val="4954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96512" y="29809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统一资产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74336" y="2980944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6CE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跨能力安全流转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877056"/>
            <a:ext cx="2944368" cy="822960"/>
          </a:xfrm>
          <a:prstGeom prst="roundRect">
            <a:avLst>
              <a:gd name="adj" fmla="val 15556"/>
            </a:avLst>
          </a:prstGeom>
          <a:solidFill>
            <a:srgbClr val="27323C"/>
          </a:solidFill>
          <a:ln w="8890">
            <a:solidFill>
              <a:srgbClr val="495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40050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统一台账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28216" y="4005072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6CE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真实状态与失败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3877056"/>
            <a:ext cx="2944368" cy="822960"/>
          </a:xfrm>
          <a:prstGeom prst="roundRect">
            <a:avLst>
              <a:gd name="adj" fmla="val 15556"/>
            </a:avLst>
          </a:prstGeom>
          <a:solidFill>
            <a:srgbClr val="27323C"/>
          </a:solidFill>
          <a:ln w="8890">
            <a:solidFill>
              <a:srgbClr val="495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40050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统一边界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4336" y="4005072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6CE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 / 用户 / 权限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35240" y="1005840"/>
            <a:ext cx="3886200" cy="4480560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73568" y="1371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下一阶段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01000" y="2057400"/>
            <a:ext cx="347472" cy="347472"/>
          </a:xfrm>
          <a:prstGeom prst="ellipse">
            <a:avLst/>
          </a:prstGeom>
          <a:solidFill>
            <a:srgbClr val="C91838"/>
          </a:solidFill>
          <a:ln w="12700">
            <a:solidFill>
              <a:srgbClr val="C91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85632" y="20116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完善更多真实外部能力适配器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2715768"/>
            <a:ext cx="347472" cy="347472"/>
          </a:xfrm>
          <a:prstGeom prst="ellipse">
            <a:avLst/>
          </a:prstGeom>
          <a:solidFill>
            <a:srgbClr val="FDECEF"/>
          </a:solidFill>
          <a:ln w="12700">
            <a:solidFill>
              <a:srgbClr val="ED99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85632" y="26700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强化工作流版本与资源配额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1000" y="3374136"/>
            <a:ext cx="347472" cy="347472"/>
          </a:xfrm>
          <a:prstGeom prst="ellipse">
            <a:avLst/>
          </a:prstGeom>
          <a:solidFill>
            <a:srgbClr val="FDECEF"/>
          </a:solidFill>
          <a:ln w="12700">
            <a:solidFill>
              <a:srgbClr val="ED99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85632" y="3328416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补齐企业级监控、备份与发布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4032504"/>
            <a:ext cx="347472" cy="347472"/>
          </a:xfrm>
          <a:prstGeom prst="ellipse">
            <a:avLst/>
          </a:prstGeom>
          <a:solidFill>
            <a:srgbClr val="FDECEF"/>
          </a:solidFill>
          <a:ln w="12700">
            <a:solidFill>
              <a:srgbClr val="ED99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85632" y="39867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440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持续优化专业节点交互体验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5897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973568" y="4937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18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轨道客室智能设计平台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Rail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轨道客室智能设计平台项目介绍</dc:title>
  <dc:subject>项目介绍</dc:subject>
  <dc:creator>轨道客室智能设计平台</dc:creator>
  <cp:lastModifiedBy>轨道客室智能设计平台</cp:lastModifiedBy>
  <cp:revision>1</cp:revision>
  <dcterms:created xsi:type="dcterms:W3CDTF">2026-08-14T04:24:12Z</dcterms:created>
  <dcterms:modified xsi:type="dcterms:W3CDTF">2026-08-14T04:24:12Z</dcterms:modified>
</cp:coreProperties>
</file>